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  <p:embeddedFont>
      <p:font typeface="Montserrat Bold" panose="00000800000000000000" pitchFamily="2" charset="-52"/>
      <p:bold r:id="rId16"/>
    </p:embeddedFont>
    <p:embeddedFont>
      <p:font typeface="Source Sans 3" panose="020B0604020202020204" charset="0"/>
      <p:regular r:id="rId1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4994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.png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4333" y="318864"/>
            <a:ext cx="882923" cy="190351"/>
          </a:xfrm>
          <a:prstGeom prst="roundRect">
            <a:avLst>
              <a:gd name="adj" fmla="val 6990"/>
            </a:avLst>
          </a:prstGeom>
          <a:noFill/>
          <a:ln w="4763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65622" y="356890"/>
            <a:ext cx="74034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ВЕБ-ПРИЛОЖЕНИЕ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094333" y="541065"/>
            <a:ext cx="4631159" cy="3149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Кулинарная платформа рецептов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94333" y="975568"/>
            <a:ext cx="69552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Веб-приложение для публикации, просмотра и обмена кулинарными рецептами — с REST API, адаптивным интерфейсом и полноценной системой авторизации.</a:t>
            </a:r>
            <a:endParaRPr lang="en-US" sz="8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952" y="1350913"/>
            <a:ext cx="4057948" cy="34736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43675" y="2401140"/>
            <a:ext cx="1422533" cy="1777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Пользователи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997273" y="2282903"/>
            <a:ext cx="1363197" cy="1777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Рецепты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322629" y="3910393"/>
            <a:ext cx="1182365" cy="1777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API (JSON)</a:t>
            </a:r>
            <a:endParaRPr lang="en-US" sz="11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9892353-C0A3-6BC8-C40A-04AAD56BF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630" y="4335710"/>
            <a:ext cx="2423370" cy="807790"/>
          </a:xfrm>
          <a:prstGeom prst="rect">
            <a:avLst/>
          </a:prstGeom>
        </p:spPr>
      </p:pic>
      <p:sp>
        <p:nvSpPr>
          <p:cNvPr id="13" name="Text 3">
            <a:extLst>
              <a:ext uri="{FF2B5EF4-FFF2-40B4-BE49-F238E27FC236}">
                <a16:creationId xmlns:a16="http://schemas.microsoft.com/office/drawing/2014/main" id="{E60A3ECF-FE10-1162-16DE-13947890D6E4}"/>
              </a:ext>
            </a:extLst>
          </p:cNvPr>
          <p:cNvSpPr/>
          <p:nvPr/>
        </p:nvSpPr>
        <p:spPr>
          <a:xfrm>
            <a:off x="7556157" y="4454611"/>
            <a:ext cx="1482811" cy="437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ru-RU" sz="850" dirty="0">
                <a:solidFill>
                  <a:schemeClr val="bg1"/>
                </a:solidFill>
              </a:rPr>
              <a:t>Сделали</a:t>
            </a:r>
            <a:r>
              <a:rPr lang="en-US" sz="850" dirty="0">
                <a:solidFill>
                  <a:schemeClr val="bg1"/>
                </a:solidFill>
              </a:rPr>
              <a:t>:</a:t>
            </a:r>
          </a:p>
          <a:p>
            <a:pPr marL="0" indent="0" algn="l">
              <a:lnSpc>
                <a:spcPts val="1100"/>
              </a:lnSpc>
              <a:buNone/>
            </a:pPr>
            <a:r>
              <a:rPr lang="ru-RU" sz="850" dirty="0">
                <a:solidFill>
                  <a:schemeClr val="bg1"/>
                </a:solidFill>
              </a:rPr>
              <a:t>Шведов Леонид</a:t>
            </a:r>
          </a:p>
          <a:p>
            <a:pPr>
              <a:lnSpc>
                <a:spcPts val="1100"/>
              </a:lnSpc>
            </a:pPr>
            <a:r>
              <a:rPr lang="ru-RU" sz="850" dirty="0">
                <a:solidFill>
                  <a:schemeClr val="bg1"/>
                </a:solidFill>
              </a:rPr>
              <a:t>Белоусов Егор</a:t>
            </a:r>
            <a:endParaRPr lang="en-US" sz="8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874" y="1387004"/>
            <a:ext cx="998339" cy="277564"/>
          </a:xfrm>
          <a:prstGeom prst="roundRect">
            <a:avLst>
              <a:gd name="adj" fmla="val 6670"/>
            </a:avLst>
          </a:prstGeom>
          <a:solidFill>
            <a:srgbClr val="262626"/>
          </a:solidFill>
          <a:ln/>
        </p:spPr>
      </p:sp>
      <p:sp>
        <p:nvSpPr>
          <p:cNvPr id="3" name="Text 1"/>
          <p:cNvSpPr/>
          <p:nvPr/>
        </p:nvSpPr>
        <p:spPr>
          <a:xfrm>
            <a:off x="632371" y="1433215"/>
            <a:ext cx="813346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ЦЕЛЬ ПРОЕКТА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39874" y="1726257"/>
            <a:ext cx="3506093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Зачем это нужно?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428774" y="2395910"/>
            <a:ext cx="4066133" cy="1360512"/>
          </a:xfrm>
          <a:prstGeom prst="roundRect">
            <a:avLst>
              <a:gd name="adj" fmla="val 1701"/>
            </a:avLst>
          </a:prstGeom>
          <a:solidFill>
            <a:srgbClr val="1D1F22"/>
          </a:solidFill>
          <a:ln/>
        </p:spPr>
      </p:sp>
      <p:sp>
        <p:nvSpPr>
          <p:cNvPr id="6" name="Text 4"/>
          <p:cNvSpPr/>
          <p:nvPr/>
        </p:nvSpPr>
        <p:spPr>
          <a:xfrm>
            <a:off x="583034" y="2550170"/>
            <a:ext cx="185975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Для пользователей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83034" y="2923580"/>
            <a:ext cx="3757613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Удобный сервис, где каждый зарегистрированный участник может делиться рецептами, а любой гость — свободно их просматривать без ограничений.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64956" y="2550170"/>
            <a:ext cx="2984078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Для разработчиков и сервисов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64956" y="2923580"/>
            <a:ext cx="3843933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Открытый REST API позволяет сторонним приложениям получать данные о рецептах в формате JSON — готовая точка интеграции с другими платформами.</a:t>
            </a:r>
            <a:endParaRPr lang="en-US" sz="12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4A28A5-CF09-AB78-AA2A-433345150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30" y="4335710"/>
            <a:ext cx="2423370" cy="8077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1269727"/>
            <a:ext cx="4403452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Основной функционал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874" y="2016547"/>
            <a:ext cx="385614" cy="3856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18295" y="2016547"/>
            <a:ext cx="2684264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Регистрация и авторизация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1118295" y="2328193"/>
            <a:ext cx="3357265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Flask-Login: вход по email и паролю, опция «Запомнить меня», выход из системы.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8366" y="2016547"/>
            <a:ext cx="385614" cy="3856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46787" y="2016547"/>
            <a:ext cx="2270671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Управление рецептами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5246787" y="2328193"/>
            <a:ext cx="3357339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Создание, редактирование и удаление рецептов с загрузкой фото (jpg, png, jpeg).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9874" y="3099420"/>
            <a:ext cx="385614" cy="38561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18295" y="3099420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Главная страница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1118295" y="3411066"/>
            <a:ext cx="3357265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Все рецепты в виде карточек с превью, названием, временем и автором.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68366" y="3099420"/>
            <a:ext cx="385614" cy="38561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246787" y="3099420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REST API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5246787" y="3411066"/>
            <a:ext cx="3357339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JSON-эндпоинты для списка рецептов и детальной информации о конкретном блюде.</a:t>
            </a:r>
            <a:endParaRPr lang="en-US" sz="1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86496B8-7FF9-2E7E-0838-47E959DFDB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630" y="4335710"/>
            <a:ext cx="2423370" cy="8077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6384" y="360611"/>
            <a:ext cx="3432721" cy="349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Технологический стек</a:t>
            </a:r>
            <a:endParaRPr lang="en-US" sz="2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84" y="966936"/>
            <a:ext cx="3705671" cy="3705671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384" y="966936"/>
            <a:ext cx="3705671" cy="370567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26707" y="1796653"/>
            <a:ext cx="1396975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Backend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4726707" y="2069157"/>
            <a:ext cx="3705671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300"/>
              </a:lnSpc>
              <a:buSzPct val="100000"/>
              <a:buChar char="•"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 3, Flask, Flask-Login, Flask-WTF</a:t>
            </a:r>
            <a:endParaRPr lang="en-US" sz="950" dirty="0"/>
          </a:p>
          <a:p>
            <a:pPr marL="342900" indent="-342900" algn="l">
              <a:lnSpc>
                <a:spcPts val="1300"/>
              </a:lnSpc>
              <a:buSzPct val="100000"/>
              <a:buChar char="•"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SQLAlchemy ORM + Werkzeug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4726707" y="2532608"/>
            <a:ext cx="1396975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Frontend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4726707" y="2805113"/>
            <a:ext cx="3705671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300"/>
              </a:lnSpc>
              <a:buSzPct val="100000"/>
              <a:buChar char="•"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HTML5, Bootstrap 5, Jinja2</a:t>
            </a:r>
            <a:endParaRPr lang="en-US" sz="950" dirty="0"/>
          </a:p>
          <a:p>
            <a:pPr marL="342900" indent="-342900" algn="l">
              <a:lnSpc>
                <a:spcPts val="1300"/>
              </a:lnSpc>
              <a:buSzPct val="100000"/>
              <a:buChar char="•"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Адаптивная сетка, наследование шаблонов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4726707" y="3268563"/>
            <a:ext cx="1396975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Инфраструктура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4726707" y="3541068"/>
            <a:ext cx="3705671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300"/>
              </a:lnSpc>
              <a:buSzPct val="100000"/>
              <a:buChar char="•"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SQLite — база данных</a:t>
            </a:r>
            <a:endParaRPr lang="en-US" sz="950" dirty="0"/>
          </a:p>
          <a:p>
            <a:pPr marL="342900" indent="-342900" algn="l">
              <a:lnSpc>
                <a:spcPts val="1300"/>
              </a:lnSpc>
              <a:buSzPct val="100000"/>
              <a:buChar char="•"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Деплой: PythonAnywhere / Render</a:t>
            </a:r>
            <a:endParaRPr lang="en-US" sz="95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99A1E69-5DF2-910D-05F2-3D02E2792F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630" y="4335710"/>
            <a:ext cx="2423370" cy="8077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874" y="1039267"/>
            <a:ext cx="1073125" cy="287089"/>
          </a:xfrm>
          <a:prstGeom prst="roundRect">
            <a:avLst>
              <a:gd name="adj" fmla="val 6448"/>
            </a:avLst>
          </a:prstGeom>
          <a:noFill/>
          <a:ln w="4763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37133" y="1090240"/>
            <a:ext cx="878607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ПОЛЬЗОВАТЕЛИ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39874" y="1388046"/>
            <a:ext cx="4949651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Система аутентификации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539874" y="2057698"/>
            <a:ext cx="2585219" cy="2046461"/>
          </a:xfrm>
          <a:prstGeom prst="roundRect">
            <a:avLst>
              <a:gd name="adj" fmla="val 1131"/>
            </a:avLst>
          </a:prstGeom>
          <a:solidFill>
            <a:srgbClr val="111213"/>
          </a:solidFill>
          <a:ln w="19050">
            <a:solidFill>
              <a:srgbClr val="494A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8924" y="2076748"/>
            <a:ext cx="2547119" cy="462781"/>
          </a:xfrm>
          <a:prstGeom prst="roundRect">
            <a:avLst>
              <a:gd name="adj" fmla="val 61"/>
            </a:avLst>
          </a:prstGeom>
          <a:solidFill>
            <a:srgbClr val="303132"/>
          </a:solidFill>
          <a:ln/>
        </p:spPr>
      </p:sp>
      <p:sp>
        <p:nvSpPr>
          <p:cNvPr id="7" name="Text 5"/>
          <p:cNvSpPr/>
          <p:nvPr/>
        </p:nvSpPr>
        <p:spPr>
          <a:xfrm>
            <a:off x="1716807" y="2163514"/>
            <a:ext cx="231353" cy="2892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184" y="2693789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Регистрация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184" y="3005435"/>
            <a:ext cx="2238598" cy="925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Email, пароль, имя, фамилия, возраст, должность, специальность, адрес — полный профиль с первого шага.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79353" y="2057698"/>
            <a:ext cx="2585219" cy="2046461"/>
          </a:xfrm>
          <a:prstGeom prst="roundRect">
            <a:avLst>
              <a:gd name="adj" fmla="val 1131"/>
            </a:avLst>
          </a:prstGeom>
          <a:solidFill>
            <a:srgbClr val="111213"/>
          </a:solidFill>
          <a:ln w="19050">
            <a:solidFill>
              <a:srgbClr val="494A4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8403" y="2076748"/>
            <a:ext cx="2547119" cy="462781"/>
          </a:xfrm>
          <a:prstGeom prst="roundRect">
            <a:avLst>
              <a:gd name="adj" fmla="val 61"/>
            </a:avLst>
          </a:prstGeom>
          <a:solidFill>
            <a:srgbClr val="303132"/>
          </a:solidFill>
          <a:ln/>
        </p:spPr>
      </p:sp>
      <p:sp>
        <p:nvSpPr>
          <p:cNvPr id="12" name="Text 10"/>
          <p:cNvSpPr/>
          <p:nvPr/>
        </p:nvSpPr>
        <p:spPr>
          <a:xfrm>
            <a:off x="4456286" y="2163514"/>
            <a:ext cx="231353" cy="2892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52664" y="2693789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Вход в систему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52664" y="3005435"/>
            <a:ext cx="2238598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Авторизация по email и паролю с опцией «Запомнить меня» через Flask-Login.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18833" y="2057698"/>
            <a:ext cx="2585219" cy="2046461"/>
          </a:xfrm>
          <a:prstGeom prst="roundRect">
            <a:avLst>
              <a:gd name="adj" fmla="val 1131"/>
            </a:avLst>
          </a:prstGeom>
          <a:solidFill>
            <a:srgbClr val="111213"/>
          </a:solidFill>
          <a:ln w="19050">
            <a:solidFill>
              <a:srgbClr val="494A4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37883" y="2076748"/>
            <a:ext cx="2547119" cy="462781"/>
          </a:xfrm>
          <a:prstGeom prst="roundRect">
            <a:avLst>
              <a:gd name="adj" fmla="val 61"/>
            </a:avLst>
          </a:prstGeom>
          <a:solidFill>
            <a:srgbClr val="303132"/>
          </a:solidFill>
          <a:ln/>
        </p:spPr>
      </p:sp>
      <p:sp>
        <p:nvSpPr>
          <p:cNvPr id="17" name="Text 15"/>
          <p:cNvSpPr/>
          <p:nvPr/>
        </p:nvSpPr>
        <p:spPr>
          <a:xfrm>
            <a:off x="7195765" y="2163514"/>
            <a:ext cx="231353" cy="2892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92143" y="2693789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Личный кабинет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92143" y="3005435"/>
            <a:ext cx="2238598" cy="925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Отображает только рецепты текущего пользователя — с возможностью редактировать и удалять каждый из них.</a:t>
            </a:r>
            <a:endParaRPr lang="en-US" sz="1200" dirty="0"/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7171038D-0E6F-EB96-3901-7870442DD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30" y="4335710"/>
            <a:ext cx="2423370" cy="8077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8729" y="327496"/>
            <a:ext cx="528786" cy="195263"/>
          </a:xfrm>
          <a:prstGeom prst="roundRect">
            <a:avLst>
              <a:gd name="adj" fmla="val 6962"/>
            </a:avLst>
          </a:prstGeom>
          <a:noFill/>
          <a:ln w="4763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1431" y="366192"/>
            <a:ext cx="383381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РЕЦЕПТЫ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018729" y="556022"/>
            <a:ext cx="3714527" cy="321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Жизненный цикл рецепта</a:t>
            </a:r>
            <a:endParaRPr lang="en-US" sz="2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486" y="1002655"/>
            <a:ext cx="6466880" cy="34252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379299" y="3450694"/>
            <a:ext cx="1453478" cy="1816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Создание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120138" y="3689202"/>
            <a:ext cx="1712639" cy="277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050"/>
              </a:lnSpc>
              <a:buNone/>
            </a:pPr>
            <a:r>
              <a:rPr lang="en-US" sz="10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Ввести название, описание, ингредиенты, фото, время.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753937" y="1464015"/>
            <a:ext cx="1453478" cy="1816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Публикация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494776" y="1702523"/>
            <a:ext cx="1712639" cy="277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050"/>
              </a:lnSpc>
              <a:buNone/>
            </a:pPr>
            <a:r>
              <a:rPr lang="en-US" sz="10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Карточка появляется на главной странице.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332225" y="1464015"/>
            <a:ext cx="1453478" cy="1816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Просмотр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332225" y="1702523"/>
            <a:ext cx="1712638" cy="277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10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Доступна детальная страница для всех пользователей.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36267" y="3450805"/>
            <a:ext cx="1453478" cy="1816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Управление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36267" y="3689313"/>
            <a:ext cx="1712639" cy="277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10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Автор может редактировать или удалять рецепт.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18729" y="4521473"/>
            <a:ext cx="7106469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Каждый рецепт проходит полный путь — от ввода данных до публичного отображения. Автор сохраняет полный контроль над своим контентом в любой момент.</a:t>
            </a:r>
            <a:endParaRPr lang="en-US" sz="85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BE96F7-C02C-3081-4FFE-4F02CD2C0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630" y="4335710"/>
            <a:ext cx="2423370" cy="8077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6384" y="360611"/>
            <a:ext cx="5079727" cy="349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Хранение данных и ORM-модели</a:t>
            </a:r>
            <a:endParaRPr lang="en-US" sz="2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84" y="966936"/>
            <a:ext cx="3705671" cy="3705671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384" y="966936"/>
            <a:ext cx="3705671" cy="370567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26707" y="1796207"/>
            <a:ext cx="1396975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Модель User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4726707" y="2068711"/>
            <a:ext cx="3705671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Хранит профиль пользователя и хэш пароля. Связана с рецептами через внешний ключ.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4726707" y="2497931"/>
            <a:ext cx="1396975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Модель Recipe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4726707" y="2770436"/>
            <a:ext cx="3705671" cy="340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Все поля рецепта, включая путь к фото в </a:t>
            </a:r>
            <a:r>
              <a:rPr lang="en-US" sz="950" dirty="0">
                <a:solidFill>
                  <a:srgbClr val="E2E6E9"/>
                </a:solidFill>
                <a:highlight>
                  <a:srgbClr val="1E1F2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static/uploads/</a:t>
            </a: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 Имена файлов генерируются безопасно через Werkzeug.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726707" y="3221459"/>
            <a:ext cx="3705671" cy="609526"/>
          </a:xfrm>
          <a:prstGeom prst="roundRect">
            <a:avLst>
              <a:gd name="adj" fmla="val 3025"/>
            </a:avLst>
          </a:prstGeom>
          <a:solidFill>
            <a:srgbClr val="262626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9639" y="3386584"/>
            <a:ext cx="153665" cy="1229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26236" y="3350121"/>
            <a:ext cx="3183210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База данных: </a:t>
            </a:r>
            <a:r>
              <a:rPr lang="en-US" sz="9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SQLite</a:t>
            </a:r>
            <a:r>
              <a:rPr lang="en-US" sz="9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 ORM: </a:t>
            </a:r>
            <a:r>
              <a:rPr lang="en-US" sz="9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SQLAlchemy</a:t>
            </a:r>
            <a:r>
              <a:rPr lang="en-US" sz="9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 Один пользователь — много рецептов.</a:t>
            </a:r>
            <a:endParaRPr lang="en-US" sz="95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3481268-E7C0-ED79-5398-5481816E0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630" y="4335710"/>
            <a:ext cx="2423370" cy="8077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874" y="895350"/>
            <a:ext cx="863873" cy="287089"/>
          </a:xfrm>
          <a:prstGeom prst="roundRect">
            <a:avLst>
              <a:gd name="adj" fmla="val 6448"/>
            </a:avLst>
          </a:prstGeom>
          <a:noFill/>
          <a:ln w="4763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37133" y="946324"/>
            <a:ext cx="669354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ИНТЕРФЕЙС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39874" y="1244129"/>
            <a:ext cx="5692825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Адаптивный UI на Bootstrap 5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539874" y="1913781"/>
            <a:ext cx="3954959" cy="1097161"/>
          </a:xfrm>
          <a:prstGeom prst="roundRect">
            <a:avLst>
              <a:gd name="adj" fmla="val 2109"/>
            </a:avLst>
          </a:prstGeom>
          <a:solidFill>
            <a:srgbClr val="303132"/>
          </a:solidFill>
          <a:ln/>
        </p:spPr>
      </p:sp>
      <p:sp>
        <p:nvSpPr>
          <p:cNvPr id="6" name="Text 4"/>
          <p:cNvSpPr/>
          <p:nvPr/>
        </p:nvSpPr>
        <p:spPr>
          <a:xfrm>
            <a:off x="694134" y="2068041"/>
            <a:ext cx="240967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Наследование шаблонов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94134" y="2379687"/>
            <a:ext cx="3646438" cy="476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Все страницы наследуют общий </a:t>
            </a:r>
            <a:r>
              <a:rPr lang="en-US" sz="1200" dirty="0">
                <a:solidFill>
                  <a:srgbClr val="E2E6E9"/>
                </a:solidFill>
                <a:highlight>
                  <a:srgbClr val="1E1F2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base.html</a:t>
            </a: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навбар, стили и структура унифицированы.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49093" y="1913781"/>
            <a:ext cx="3955033" cy="1097161"/>
          </a:xfrm>
          <a:prstGeom prst="roundRect">
            <a:avLst>
              <a:gd name="adj" fmla="val 2109"/>
            </a:avLst>
          </a:prstGeom>
          <a:solidFill>
            <a:srgbClr val="303132"/>
          </a:solidFill>
          <a:ln/>
        </p:spPr>
      </p:sp>
      <p:sp>
        <p:nvSpPr>
          <p:cNvPr id="9" name="Text 7"/>
          <p:cNvSpPr/>
          <p:nvPr/>
        </p:nvSpPr>
        <p:spPr>
          <a:xfrm>
            <a:off x="4803353" y="2068041"/>
            <a:ext cx="1855738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Карточки рецептов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803353" y="2379687"/>
            <a:ext cx="3646512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Bootstrap-карточки с превью фото, названием, кратким описанием, временем и именем автора.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874" y="3165202"/>
            <a:ext cx="3954959" cy="108287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</p:sp>
      <p:sp>
        <p:nvSpPr>
          <p:cNvPr id="12" name="Text 10"/>
          <p:cNvSpPr/>
          <p:nvPr/>
        </p:nvSpPr>
        <p:spPr>
          <a:xfrm>
            <a:off x="694134" y="3319463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Flash-сообщения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94134" y="3631109"/>
            <a:ext cx="3646438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Уведомления об успешном добавлении, изменении или удалении рецепта — мгновенная обратная связь.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49093" y="3165202"/>
            <a:ext cx="3955033" cy="108287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</p:sp>
      <p:sp>
        <p:nvSpPr>
          <p:cNvPr id="15" name="Text 13"/>
          <p:cNvSpPr/>
          <p:nvPr/>
        </p:nvSpPr>
        <p:spPr>
          <a:xfrm>
            <a:off x="4803353" y="3319463"/>
            <a:ext cx="2147664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Мобильная адаптация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803353" y="3631109"/>
            <a:ext cx="3646512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Адаптивная сетка Bootstrap корректно работает на любых устройствах — от смартфона до десктопа.</a:t>
            </a:r>
            <a:endParaRPr lang="en-US" sz="1200" dirty="0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EE24295-C01E-2E5B-6FBE-C9A72DBD8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30" y="4335710"/>
            <a:ext cx="2423370" cy="80779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874" y="847204"/>
            <a:ext cx="553938" cy="277564"/>
          </a:xfrm>
          <a:prstGeom prst="roundRect">
            <a:avLst>
              <a:gd name="adj" fmla="val 6670"/>
            </a:avLst>
          </a:prstGeom>
          <a:solidFill>
            <a:srgbClr val="262626"/>
          </a:solidFill>
          <a:ln/>
        </p:spPr>
      </p:sp>
      <p:sp>
        <p:nvSpPr>
          <p:cNvPr id="3" name="Text 1"/>
          <p:cNvSpPr/>
          <p:nvPr/>
        </p:nvSpPr>
        <p:spPr>
          <a:xfrm>
            <a:off x="632371" y="893415"/>
            <a:ext cx="368945" cy="1851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ИТОГИ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39874" y="1186458"/>
            <a:ext cx="4011216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Готовность к деплою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539874" y="2010370"/>
            <a:ext cx="1814140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Структура проекта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39874" y="2383780"/>
            <a:ext cx="3843933" cy="1444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E2E6E9"/>
                </a:solidFill>
                <a:highlight>
                  <a:srgbClr val="1E1F2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data/</a:t>
            </a: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ORM-модели User и Recipe</a:t>
            </a:r>
            <a:endParaRPr lang="en-US" sz="1200" dirty="0"/>
          </a:p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E2E6E9"/>
                </a:solidFill>
                <a:highlight>
                  <a:srgbClr val="1E1F2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forms/</a:t>
            </a: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Flask-WTF формы</a:t>
            </a:r>
            <a:endParaRPr lang="en-US" sz="1200" dirty="0"/>
          </a:p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E2E6E9"/>
                </a:solidFill>
                <a:highlight>
                  <a:srgbClr val="1E1F2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templates/</a:t>
            </a: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Jinja2-шаблоны</a:t>
            </a:r>
            <a:endParaRPr lang="en-US" sz="1200" dirty="0"/>
          </a:p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E2E6E9"/>
                </a:solidFill>
                <a:highlight>
                  <a:srgbClr val="1E1F2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static/uploads/</a:t>
            </a: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загруженные фото</a:t>
            </a:r>
            <a:endParaRPr lang="en-US" sz="1200" dirty="0"/>
          </a:p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E2E6E9"/>
                </a:solidFill>
                <a:highlight>
                  <a:srgbClr val="1E1F2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</a:t>
            </a: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зависимости проекта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64956" y="2010370"/>
            <a:ext cx="227632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Платформы для деплоя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64956" y="2383780"/>
            <a:ext cx="3843933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Проект готов к размещению на </a:t>
            </a:r>
            <a:r>
              <a:rPr lang="en-US" sz="12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PythonAnywhere</a:t>
            </a: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или </a:t>
            </a:r>
            <a:r>
              <a:rPr lang="en-US" sz="12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Render</a:t>
            </a:r>
            <a:r>
              <a:rPr lang="en-US" sz="12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без значительных изменений кода.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64956" y="3020020"/>
            <a:ext cx="3843933" cy="1102742"/>
          </a:xfrm>
          <a:prstGeom prst="roundRect">
            <a:avLst>
              <a:gd name="adj" fmla="val 2098"/>
            </a:avLst>
          </a:prstGeom>
          <a:solidFill>
            <a:srgbClr val="183A13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216" y="3239765"/>
            <a:ext cx="192807" cy="1542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66283" y="3212827"/>
            <a:ext cx="3188345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Встроенный Flask-сервер используется для разработки. В продакшне — замена на WSGI-совместимый сервер.</a:t>
            </a:r>
            <a:endParaRPr lang="en-US" sz="12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1973229-9728-1B04-A6AD-99E209C69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630" y="4335710"/>
            <a:ext cx="2423370" cy="8077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525</Words>
  <Application>Microsoft Office PowerPoint</Application>
  <PresentationFormat>Экран (16:9)</PresentationFormat>
  <Paragraphs>92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Montserrat Bold</vt:lpstr>
      <vt:lpstr>Consolas</vt:lpstr>
      <vt:lpstr>Arial</vt:lpstr>
      <vt:lpstr>Source Sans 3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Егор Белоусов</cp:lastModifiedBy>
  <cp:revision>3</cp:revision>
  <dcterms:created xsi:type="dcterms:W3CDTF">2026-05-15T10:17:16Z</dcterms:created>
  <dcterms:modified xsi:type="dcterms:W3CDTF">2026-05-18T07:35:09Z</dcterms:modified>
</cp:coreProperties>
</file>